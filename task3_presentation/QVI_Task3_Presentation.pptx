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1010" r:id="rId3"/>
    <p:sldId id="4780" r:id="rId4"/>
    <p:sldId id="4779" r:id="rId5"/>
    <p:sldId id="4781" r:id="rId6"/>
    <p:sldId id="4782" r:id="rId7"/>
    <p:sldId id="4783" r:id="rId8"/>
    <p:sldId id="4784" r:id="rId9"/>
    <p:sldId id="4785" r:id="rId10"/>
    <p:sldId id="4786" r:id="rId11"/>
    <p:sldId id="275" r:id="rId12"/>
    <p:sldId id="4787" r:id="rId30"/>
    <p:sldId id="4788" r:id="rId31"/>
    <p:sldId id="4789" r:id="rId32"/>
    <p:sldId id="4790" r:id="rId33"/>
    <p:sldId id="4791" r:id="rId34"/>
    <p:sldId id="4792" r:id="rId35"/>
  </p:sldIdLst>
  <p:sldSz cx="12192000" cy="6858000"/>
  <p:notesSz cx="6858000" cy="9144000"/>
  <p:embeddedFontLst>
    <p:embeddedFont>
      <p:font typeface="Calibri" panose="020F0502020204030204" pitchFamily="34" charset="0"/>
      <p:regular r:id="rId14"/>
      <p:bold r:id="rId15"/>
      <p:italic r:id="rId16"/>
      <p:boldItalic r:id="rId17"/>
    </p:embeddedFont>
    <p:embeddedFont>
      <p:font typeface="Roboto" panose="02000000000000000000" pitchFamily="2" charset="0"/>
      <p:regular r:id="rId18"/>
      <p:bold r:id="rId19"/>
      <p:italic r:id="rId20"/>
      <p:boldItalic r:id="rId21"/>
    </p:embeddedFont>
    <p:embeddedFont>
      <p:font typeface="Roboto Light" panose="02000000000000000000" pitchFamily="2" charset="0"/>
      <p:regular r:id="rId22"/>
      <p:italic r:id="rId23"/>
    </p:embeddedFont>
    <p:embeddedFont>
      <p:font typeface="Roboto Medium" panose="02000000000000000000" pitchFamily="2" charset="0"/>
      <p:regular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71" d="100"/>
          <a:sy n="71" d="100"/>
        </p:scale>
        <p:origin x="1354" y="53"/>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2.xml"/><Relationship Id="rId31" Type="http://schemas.openxmlformats.org/officeDocument/2006/relationships/slide" Target="slides/slide13.xml"/><Relationship Id="rId32" Type="http://schemas.openxmlformats.org/officeDocument/2006/relationships/slide" Target="slides/slide14.xml"/><Relationship Id="rId33" Type="http://schemas.openxmlformats.org/officeDocument/2006/relationships/slide" Target="slides/slide15.xml"/><Relationship Id="rId34" Type="http://schemas.openxmlformats.org/officeDocument/2006/relationships/slide" Target="slides/slide16.xml"/><Relationship Id="rId35"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11/06/2020</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www.youtube.com/watch?v=Zq1QDAkoRzU" TargetMode="Externa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11</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July 2018 – June 2019</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a:latin typeface="Roboto" panose="02000000000000000000" pitchFamily="2" charset="0"/>
                <a:ea typeface="Roboto" panose="02000000000000000000" pitchFamily="2" charset="0"/>
                <a:cs typeface="Roboto" panose="02000000000000000000" pitchFamily="2" charset="0"/>
              </a:rPr>
              <a:t>Task 2</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967887"/>
            <a:ext cx="7580989" cy="1718742"/>
          </a:xfrm>
          <a:prstGeom prst="rect">
            <a:avLst/>
          </a:prstGeom>
          <a:noFill/>
        </p:spPr>
        <p:txBody>
          <a:bodyPr wrap="square" lIns="0" tIns="0" rIns="0" bIns="0" rtlCol="0" anchor="t">
            <a:noAutofit/>
          </a:bodyPr>
          <a:lstStyle/>
          <a:p>
            <a:pPr algn="l"/>
            <a:r>
              <a:rPr lang="en-AU" sz="1200" dirty="0">
                <a:latin typeface="Roboto Light" panose="02000000000000000000" pitchFamily="2" charset="0"/>
                <a:ea typeface="Roboto Light" panose="02000000000000000000" pitchFamily="2" charset="0"/>
              </a:rPr>
              <a:t>Budget - Older Families, Mainstream Young Singles/Couples and Mainstream Retirees drive the majority of chip sales. Mainstream Young Singles/Couples are 23% more likely to buy Tyrrells and prefer larger pack sizes (270g+).</a:t>
            </a: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718742"/>
          </a:xfrm>
          <a:prstGeom prst="rect">
            <a:avLst/>
          </a:prstGeom>
          <a:noFill/>
        </p:spPr>
        <p:txBody>
          <a:bodyPr wrap="square" lIns="0" tIns="0" rIns="0" bIns="0" rtlCol="0" anchor="t">
            <a:noAutofit/>
          </a:bodyPr>
          <a:lstStyle/>
          <a:p>
            <a:r>
              <a:rPr lang="en-AU" sz="1200" dirty="0">
                <a:latin typeface="Roboto Light" panose="02000000000000000000" pitchFamily="2" charset="0"/>
                <a:ea typeface="Roboto Light" panose="02000000000000000000" pitchFamily="2" charset="0"/>
              </a:rPr>
              <a:t>Trial stores 77 and 88 showed significant uplift in both sales and customers (2/3 trial months). Store 86 showed strong customer growth across all 3 months but mixed sales — recommend investigating pricing. Overall: roll out the new layout.</a:t>
            </a: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Category</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1186160" cy="502920"/>
          </a:xfrm>
          <a:prstGeom prst="rect">
            <a:avLst/>
          </a:prstGeom>
          <a:noFill/>
        </p:spPr>
        <p:txBody>
          <a:bodyPr wrap="square">
            <a:spAutoFit/>
          </a:bodyPr>
          <a:lstStyle/>
          <a:p>
            <a:pPr algn="l"/>
            <a:r>
              <a:rPr sz="1100" b="0">
                <a:solidFill>
                  <a:srgbClr val="282828"/>
                </a:solidFill>
                <a:latin typeface="Calibri"/>
              </a:rPr>
              <a:t>Budget - Older Families: $156,864  |  Mainstream Young Singles/Couples: $147,582  |  Mainstream Retirees: $145,169</a:t>
            </a:r>
          </a:p>
        </p:txBody>
      </p:sp>
      <p:pic>
        <p:nvPicPr>
          <p:cNvPr id="3" name="Picture 2" descr="fig3_total_sales.png"/>
          <p:cNvPicPr>
            <a:picLocks noChangeAspect="1"/>
          </p:cNvPicPr>
          <p:nvPr/>
        </p:nvPicPr>
        <p:blipFill>
          <a:blip r:embed="rId3"/>
          <a:stretch>
            <a:fillRect/>
          </a:stretch>
        </p:blipFill>
        <p:spPr>
          <a:xfrm>
            <a:off x="502920" y="749808"/>
            <a:ext cx="11186160" cy="5513832"/>
          </a:xfrm>
          <a:prstGeom prst="rect">
            <a:avLst/>
          </a:prstGeom>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1186160" cy="502920"/>
          </a:xfrm>
          <a:prstGeom prst="rect">
            <a:avLst/>
          </a:prstGeom>
          <a:noFill/>
        </p:spPr>
        <p:txBody>
          <a:bodyPr wrap="square">
            <a:spAutoFit/>
          </a:bodyPr>
          <a:lstStyle/>
          <a:p>
            <a:pPr algn="l"/>
            <a:r>
              <a:rPr sz="1100" b="0">
                <a:solidFill>
                  <a:srgbClr val="282828"/>
                </a:solidFill>
                <a:latin typeface="Calibri"/>
              </a:rPr>
              <a:t>Mainstream Young Singles/Couples and Retirees have the most buyers. Budget Older Families achieve top revenue with fewer customers — higher spend per visit.</a:t>
            </a:r>
          </a:p>
        </p:txBody>
      </p:sp>
      <p:pic>
        <p:nvPicPr>
          <p:cNvPr id="3" name="Picture 2" descr="fig4_customer_count.png"/>
          <p:cNvPicPr>
            <a:picLocks noChangeAspect="1"/>
          </p:cNvPicPr>
          <p:nvPr/>
        </p:nvPicPr>
        <p:blipFill>
          <a:blip r:embed="rId3"/>
          <a:stretch>
            <a:fillRect/>
          </a:stretch>
        </p:blipFill>
        <p:spPr>
          <a:xfrm>
            <a:off x="502920" y="749808"/>
            <a:ext cx="11186160" cy="5513832"/>
          </a:xfrm>
          <a:prstGeom prst="rect">
            <a:avLst/>
          </a:prstGeom>
        </p:spPr>
      </p:pic>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sp>
        <p:nvSpPr>
          <p:cNvPr id="11" name="TextBox 10"/>
          <p:cNvSpPr txBox="1"/>
          <p:nvPr/>
        </p:nvSpPr>
        <p:spPr>
          <a:xfrm>
            <a:off x="502920" y="201168"/>
            <a:ext cx="11186160" cy="502920"/>
          </a:xfrm>
          <a:prstGeom prst="rect">
            <a:avLst/>
          </a:prstGeom>
          <a:noFill/>
        </p:spPr>
        <p:txBody>
          <a:bodyPr wrap="square">
            <a:spAutoFit/>
          </a:bodyPr>
          <a:lstStyle/>
          <a:p>
            <a:pPr algn="l"/>
            <a:r>
              <a:rPr sz="1100" b="0">
                <a:solidFill>
                  <a:srgbClr val="282828"/>
                </a:solidFill>
                <a:latin typeface="Calibri"/>
              </a:rPr>
              <a:t>Older Families and Young Families buy significantly more chip units per customer — consistent with bulk household purchasing behaviour.</a:t>
            </a:r>
          </a:p>
        </p:txBody>
      </p:sp>
      <p:pic>
        <p:nvPicPr>
          <p:cNvPr id="12" name="Picture 11" descr="fig5_avg_units.png"/>
          <p:cNvPicPr>
            <a:picLocks noChangeAspect="1"/>
          </p:cNvPicPr>
          <p:nvPr/>
        </p:nvPicPr>
        <p:blipFill>
          <a:blip r:embed="rId3"/>
          <a:stretch>
            <a:fillRect/>
          </a:stretch>
        </p:blipFill>
        <p:spPr>
          <a:xfrm>
            <a:off x="502920" y="749808"/>
            <a:ext cx="11186160" cy="5513832"/>
          </a:xfrm>
          <a:prstGeom prst="rect">
            <a:avLst/>
          </a:prstGeom>
        </p:spPr>
      </p:pic>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Control stores were selected using a composite score combining Pearson Correlation and Magnitude Distance on pre-trial monthly sales and customer counts (Jul 2018 – Jan 2019). Selected: Store 233 for Trial 77  |  Store 155 for Trial 86  |  Store 237 for Trial 88</a:t>
            </a:r>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01168"/>
            <a:ext cx="11186160" cy="502920"/>
          </a:xfrm>
          <a:prstGeom prst="rect">
            <a:avLst/>
          </a:prstGeom>
          <a:noFill/>
        </p:spPr>
        <p:txBody>
          <a:bodyPr wrap="square">
            <a:spAutoFit/>
          </a:bodyPr>
          <a:lstStyle/>
          <a:p>
            <a:pPr algn="l"/>
            <a:r>
              <a:rPr sz="1100" b="0">
                <a:solidFill>
                  <a:srgbClr val="282828"/>
                </a:solidFill>
                <a:latin typeface="Calibri"/>
              </a:rPr>
              <a:t>Trial Store 77 vs Control Store 233: Sales and customers significantly exceeded the 95% confidence interval in March and April 2019 (t=7.3 and t=12.5). VERDICT: Trial SUCCESSFUL — recommend rollout.</a:t>
            </a:r>
          </a:p>
        </p:txBody>
      </p:sp>
      <p:pic>
        <p:nvPicPr>
          <p:cNvPr id="3" name="Picture 2" descr="fig_77_sales.png"/>
          <p:cNvPicPr>
            <a:picLocks noChangeAspect="1"/>
          </p:cNvPicPr>
          <p:nvPr/>
        </p:nvPicPr>
        <p:blipFill>
          <a:blip r:embed="rId3"/>
          <a:stretch>
            <a:fillRect/>
          </a:stretch>
        </p:blipFill>
        <p:spPr>
          <a:xfrm>
            <a:off x="502920" y="749808"/>
            <a:ext cx="11186160" cy="5513832"/>
          </a:xfrm>
          <a:prstGeom prst="rect">
            <a:avLst/>
          </a:prstGeom>
        </p:spPr>
      </p:pic>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502920" y="201168"/>
            <a:ext cx="11186160" cy="502920"/>
          </a:xfrm>
          <a:prstGeom prst="rect">
            <a:avLst/>
          </a:prstGeom>
          <a:noFill/>
        </p:spPr>
        <p:txBody>
          <a:bodyPr wrap="square">
            <a:spAutoFit/>
          </a:bodyPr>
          <a:lstStyle/>
          <a:p>
            <a:pPr algn="l"/>
            <a:r>
              <a:rPr sz="1100" b="0">
                <a:solidFill>
                  <a:srgbClr val="282828"/>
                </a:solidFill>
                <a:latin typeface="Calibri"/>
              </a:rPr>
              <a:t>Mainstream Mid-age and Young Singles/Couples pay the most per unit (statistically significant, p&lt;0.001) — impulse-buying behaviour at a slight price premium.</a:t>
            </a:r>
          </a:p>
        </p:txBody>
      </p:sp>
      <p:pic>
        <p:nvPicPr>
          <p:cNvPr id="4" name="Picture 3" descr="fig6_avg_price.png"/>
          <p:cNvPicPr>
            <a:picLocks noChangeAspect="1"/>
          </p:cNvPicPr>
          <p:nvPr/>
        </p:nvPicPr>
        <p:blipFill>
          <a:blip r:embed="rId2"/>
          <a:stretch>
            <a:fillRect/>
          </a:stretch>
        </p:blipFill>
        <p:spPr>
          <a:xfrm>
            <a:off x="502920" y="749808"/>
            <a:ext cx="11186160" cy="55138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502920" y="201168"/>
            <a:ext cx="11186160" cy="502920"/>
          </a:xfrm>
          <a:prstGeom prst="rect">
            <a:avLst/>
          </a:prstGeom>
          <a:noFill/>
        </p:spPr>
        <p:txBody>
          <a:bodyPr wrap="square">
            <a:spAutoFit/>
          </a:bodyPr>
          <a:lstStyle/>
          <a:p>
            <a:pPr algn="l"/>
            <a:r>
              <a:rPr sz="1100" b="0">
                <a:solidFill>
                  <a:srgbClr val="282828"/>
                </a:solidFill>
                <a:latin typeface="Calibri"/>
              </a:rPr>
              <a:t>Mainstream Young Singles/Couples over-index on Tyrrells (+24%), Twisties (+22%) and Doritos (+21%) vs the rest of the population. Target promotions on these brands.</a:t>
            </a:r>
          </a:p>
        </p:txBody>
      </p:sp>
      <p:pic>
        <p:nvPicPr>
          <p:cNvPr id="4" name="Picture 3" descr="fig7_brand_affinity.png"/>
          <p:cNvPicPr>
            <a:picLocks noChangeAspect="1"/>
          </p:cNvPicPr>
          <p:nvPr/>
        </p:nvPicPr>
        <p:blipFill>
          <a:blip r:embed="rId2"/>
          <a:stretch>
            <a:fillRect/>
          </a:stretch>
        </p:blipFill>
        <p:spPr>
          <a:xfrm>
            <a:off x="502920" y="749808"/>
            <a:ext cx="11186160" cy="55138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502920" y="201168"/>
            <a:ext cx="11186160" cy="502920"/>
          </a:xfrm>
          <a:prstGeom prst="rect">
            <a:avLst/>
          </a:prstGeom>
          <a:noFill/>
        </p:spPr>
        <p:txBody>
          <a:bodyPr wrap="square">
            <a:spAutoFit/>
          </a:bodyPr>
          <a:lstStyle/>
          <a:p>
            <a:pPr algn="l"/>
            <a:r>
              <a:rPr sz="1100" b="0">
                <a:solidFill>
                  <a:srgbClr val="282828"/>
                </a:solidFill>
                <a:latin typeface="Calibri"/>
              </a:rPr>
              <a:t>Mainstream Young Singles/Couples are 27% more likely to buy 270g packs. Note: 270g is exclusively Twisties — this reflects brand preference as much as pack size preference.</a:t>
            </a:r>
          </a:p>
        </p:txBody>
      </p:sp>
      <p:pic>
        <p:nvPicPr>
          <p:cNvPr id="4" name="Picture 3" descr="fig8_pack_affinity.png"/>
          <p:cNvPicPr>
            <a:picLocks noChangeAspect="1"/>
          </p:cNvPicPr>
          <p:nvPr/>
        </p:nvPicPr>
        <p:blipFill>
          <a:blip r:embed="rId2"/>
          <a:stretch>
            <a:fillRect/>
          </a:stretch>
        </p:blipFill>
        <p:spPr>
          <a:xfrm>
            <a:off x="502920" y="749808"/>
            <a:ext cx="11186160" cy="55138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502920" y="201168"/>
            <a:ext cx="11186160" cy="502920"/>
          </a:xfrm>
          <a:prstGeom prst="rect">
            <a:avLst/>
          </a:prstGeom>
          <a:noFill/>
        </p:spPr>
        <p:txBody>
          <a:bodyPr wrap="square">
            <a:spAutoFit/>
          </a:bodyPr>
          <a:lstStyle/>
          <a:p>
            <a:pPr algn="l"/>
            <a:r>
              <a:rPr sz="1100" b="0">
                <a:solidFill>
                  <a:srgbClr val="282828"/>
                </a:solidFill>
                <a:latin typeface="Calibri"/>
              </a:rPr>
              <a:t>Trial Store 86 vs Control Store 155: Customer numbers significantly higher across all 3 months. Sales significant in 2/3 months — possible in-store discounting. VERDICT: Investigate pricing then roll out.</a:t>
            </a:r>
          </a:p>
        </p:txBody>
      </p:sp>
      <p:pic>
        <p:nvPicPr>
          <p:cNvPr id="4" name="Picture 3" descr="fig_86_sales.png"/>
          <p:cNvPicPr>
            <a:picLocks noChangeAspect="1"/>
          </p:cNvPicPr>
          <p:nvPr/>
        </p:nvPicPr>
        <p:blipFill>
          <a:blip r:embed="rId2"/>
          <a:stretch>
            <a:fillRect/>
          </a:stretch>
        </p:blipFill>
        <p:spPr>
          <a:xfrm>
            <a:off x="502920" y="749808"/>
            <a:ext cx="11186160" cy="55138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502920" y="201168"/>
            <a:ext cx="11186160" cy="502920"/>
          </a:xfrm>
          <a:prstGeom prst="rect">
            <a:avLst/>
          </a:prstGeom>
          <a:noFill/>
        </p:spPr>
        <p:txBody>
          <a:bodyPr wrap="square">
            <a:spAutoFit/>
          </a:bodyPr>
          <a:lstStyle/>
          <a:p>
            <a:pPr algn="l"/>
            <a:r>
              <a:rPr sz="1100" b="0">
                <a:solidFill>
                  <a:srgbClr val="282828"/>
                </a:solidFill>
                <a:latin typeface="Calibri"/>
              </a:rPr>
              <a:t>Trial Store 88 vs Control Store 237: Sales and customers significantly exceeded the 95% confidence interval in March and April 2019 (t=6.6 and t=5.8). VERDICT: Trial SUCCESSFUL — recommend rollout.</a:t>
            </a:r>
          </a:p>
        </p:txBody>
      </p:sp>
      <p:pic>
        <p:nvPicPr>
          <p:cNvPr id="4" name="Picture 3" descr="fig_88_sales.png"/>
          <p:cNvPicPr>
            <a:picLocks noChangeAspect="1"/>
          </p:cNvPicPr>
          <p:nvPr/>
        </p:nvPicPr>
        <p:blipFill>
          <a:blip r:embed="rId2"/>
          <a:stretch>
            <a:fillRect/>
          </a:stretch>
        </p:blipFill>
        <p:spPr>
          <a:xfrm>
            <a:off x="502920" y="749808"/>
            <a:ext cx="11186160" cy="55138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502920" y="1097280"/>
            <a:ext cx="11186160" cy="4114800"/>
          </a:xfrm>
          <a:prstGeom prst="rect">
            <a:avLst/>
          </a:prstGeom>
          <a:noFill/>
        </p:spPr>
        <p:txBody>
          <a:bodyPr wrap="square">
            <a:spAutoFit/>
          </a:bodyPr>
          <a:lstStyle/>
          <a:p>
            <a:pPr algn="l"/>
            <a:r>
              <a:rPr sz="1400" b="0">
                <a:solidFill>
                  <a:srgbClr val="282828"/>
                </a:solidFill>
                <a:latin typeface="Calibri"/>
              </a:rPr>
              <a:t>Overall Recommendation: The chip category trial was successful.
1.  Roll out the new layout to all stores similar to Stores 77 and 88.
2.  Investigate Store 86 pricing dynamics before including in rollout.
3.  Target Tyrrells, Kettle and Doritos promotions for Mainstream Young Singles/Couples.
4.  Ensure strong availability of 175g packs (most popular) and 270g packs for Mainstream Young Singles/Couples.
5.  Run promotional activity in the first two weeks of December to capitalise on the Christmas sales spike.</a:t>
            </a:r>
          </a:p>
        </p:txBody>
      </p:sp>
    </p:spTree>
  </p:cSld>
  <p:clrMapOvr>
    <a:masterClrMapping/>
  </p:clrMapOvr>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6328</TotalTime>
  <Words>372</Words>
  <Application>Microsoft Office PowerPoint</Application>
  <PresentationFormat>Widescreen</PresentationFormat>
  <Paragraphs>36</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Roboto Light</vt:lpstr>
      <vt:lpstr>Calibri</vt:lpstr>
      <vt:lpstr>Roboto Medium</vt:lpstr>
      <vt:lpstr>Arial</vt:lpstr>
      <vt:lpstr>Roboto</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Sarah D'oliveiro</cp:lastModifiedBy>
  <cp:revision>464</cp:revision>
  <dcterms:created xsi:type="dcterms:W3CDTF">2018-02-07T23:23:24Z</dcterms:created>
  <dcterms:modified xsi:type="dcterms:W3CDTF">2020-06-11T00:39:24Z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